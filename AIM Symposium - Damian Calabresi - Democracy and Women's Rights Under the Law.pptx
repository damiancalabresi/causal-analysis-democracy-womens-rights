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219456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2">
          <p15:clr>
            <a:srgbClr val="A4A3A4"/>
          </p15:clr>
        </p15:guide>
        <p15:guide id="2" pos="13968">
          <p15:clr>
            <a:srgbClr val="A4A3A4"/>
          </p15:clr>
        </p15:guide>
        <p15:guide id="3" orient="horz" pos="1411">
          <p15:clr>
            <a:srgbClr val="A4A3A4"/>
          </p15:clr>
        </p15:guide>
        <p15:guide id="4" pos="346">
          <p15:clr>
            <a:srgbClr val="A4A3A4"/>
          </p15:clr>
        </p15:guide>
        <p15:guide id="5" pos="20390">
          <p15:clr>
            <a:srgbClr val="A4A3A4"/>
          </p15:clr>
        </p15:guide>
        <p15:guide id="6" orient="horz" pos="13478">
          <p15:clr>
            <a:srgbClr val="A4A3A4"/>
          </p15:clr>
        </p15:guide>
        <p15:guide id="7" orient="horz" pos="2246">
          <p15:clr>
            <a:srgbClr val="A4A3A4"/>
          </p15:clr>
        </p15:guide>
        <p15:guide id="8" pos="6768">
          <p15:clr>
            <a:srgbClr val="A4A3A4"/>
          </p15:clr>
        </p15:guide>
        <p15:guide id="9" pos="10368">
          <p15:clr>
            <a:srgbClr val="A4A3A4"/>
          </p15:clr>
        </p15:guide>
        <p15:guide id="10" pos="7142">
          <p15:clr>
            <a:srgbClr val="A4A3A4"/>
          </p15:clr>
        </p15:guide>
        <p15:guide id="11" pos="13565">
          <p15:clr>
            <a:srgbClr val="A4A3A4"/>
          </p15:clr>
        </p15:guide>
        <p15:guide id="12" orient="horz" pos="1987">
          <p15:clr>
            <a:srgbClr val="A4A3A4"/>
          </p15:clr>
        </p15:guide>
        <p15:guide id="13" orient="horz" pos="432">
          <p15:clr>
            <a:srgbClr val="A4A3A4"/>
          </p15:clr>
        </p15:guide>
        <p15:guide id="14" pos="1620">
          <p15:clr>
            <a:srgbClr val="747775"/>
          </p15:clr>
        </p15:guide>
        <p15:guide id="15" pos="1368">
          <p15:clr>
            <a:srgbClr val="747775"/>
          </p15:clr>
        </p15:guide>
      </p15:sldGuideLst>
    </p:ext>
    <p:ext uri="GoogleSlidesCustomDataVersion2">
      <go:slidesCustomData xmlns:go="http://customooxmlschemas.google.com/" r:id="rId8" roundtripDataSignature="AMtx7mjSx+FagmbwtckmFNo+6pIXqEKu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2AEB8B-963A-4C37-8358-C0DF22DD9815}">
  <a:tblStyle styleId="{D72AEB8B-963A-4C37-8358-C0DF22DD981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2" orient="horz"/>
        <p:guide pos="13968"/>
        <p:guide pos="1411" orient="horz"/>
        <p:guide pos="346"/>
        <p:guide pos="20390"/>
        <p:guide pos="13478" orient="horz"/>
        <p:guide pos="2246" orient="horz"/>
        <p:guide pos="6768"/>
        <p:guide pos="10368"/>
        <p:guide pos="7142"/>
        <p:guide pos="13565"/>
        <p:guide pos="1987" orient="horz"/>
        <p:guide pos="432" orient="horz"/>
        <p:guide pos="1620"/>
        <p:guide pos="1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 name="Google Shape;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
        <p:nvSpPr>
          <p:cNvPr id="11" name="Google Shape;11;p1"/>
          <p:cNvSpPr txBox="1"/>
          <p:nvPr/>
        </p:nvSpPr>
        <p:spPr>
          <a:xfrm>
            <a:off x="11360225" y="3566138"/>
            <a:ext cx="10195500" cy="16177800"/>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30000"/>
              </a:lnSpc>
              <a:spcBef>
                <a:spcPts val="0"/>
              </a:spcBef>
              <a:spcAft>
                <a:spcPts val="0"/>
              </a:spcAft>
              <a:buClr>
                <a:srgbClr val="000000"/>
              </a:buClr>
              <a:buSzPts val="2592"/>
              <a:buFont typeface="Arial"/>
              <a:buNone/>
            </a:pPr>
            <a:r>
              <a:rPr b="1" lang="en-US" sz="2592">
                <a:solidFill>
                  <a:schemeClr val="dk1"/>
                </a:solidFill>
                <a:latin typeface="Calibri"/>
                <a:ea typeface="Calibri"/>
                <a:cs typeface="Calibri"/>
                <a:sym typeface="Calibri"/>
              </a:rPr>
              <a:t>Methods</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b="1" lang="en-US" sz="2592">
                <a:solidFill>
                  <a:schemeClr val="dk1"/>
                </a:solidFill>
                <a:latin typeface="Calibri"/>
                <a:ea typeface="Calibri"/>
                <a:cs typeface="Calibri"/>
                <a:sym typeface="Calibri"/>
              </a:rPr>
              <a:t>Granger Causality Testing</a:t>
            </a:r>
            <a:r>
              <a:rPr b="1" lang="en-US" sz="2592">
                <a:solidFill>
                  <a:schemeClr val="dk1"/>
                </a:solidFill>
                <a:latin typeface="Calibri"/>
                <a:ea typeface="Calibri"/>
                <a:cs typeface="Calibri"/>
                <a:sym typeface="Calibri"/>
              </a:rPr>
              <a:t>: </a:t>
            </a:r>
            <a:r>
              <a:rPr lang="en-US" sz="2592">
                <a:solidFill>
                  <a:schemeClr val="dk1"/>
                </a:solidFill>
                <a:latin typeface="Calibri"/>
                <a:ea typeface="Calibri"/>
                <a:cs typeface="Calibri"/>
                <a:sym typeface="Calibri"/>
              </a:rPr>
              <a:t>applied country-by-country on first-differenced series (to ensure stationarity). Lags 1–4 years tested; results summarized by minimum p-value per country.</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b="1" lang="en-US" sz="2592">
                <a:solidFill>
                  <a:schemeClr val="dk1"/>
                </a:solidFill>
                <a:latin typeface="Calibri"/>
                <a:ea typeface="Calibri"/>
                <a:cs typeface="Calibri"/>
                <a:sym typeface="Calibri"/>
              </a:rPr>
              <a:t>Panel Fixed Effects Regression: </a:t>
            </a:r>
            <a:r>
              <a:rPr lang="en-US" sz="2592">
                <a:solidFill>
                  <a:schemeClr val="dk1"/>
                </a:solidFill>
                <a:latin typeface="Calibri"/>
                <a:ea typeface="Calibri"/>
                <a:cs typeface="Calibri"/>
                <a:sym typeface="Calibri"/>
              </a:rPr>
              <a:t>Granger causality establishes temporal precedence, but cannot rule out confounding from time-invariant country characteristics (legal tradition, colonial history, geography). Panel FE regression addresses this by absorbing those confounders.</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b="1"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b="1" lang="en-US" sz="2592">
                <a:solidFill>
                  <a:schemeClr val="dk1"/>
                </a:solidFill>
                <a:latin typeface="Calibri"/>
                <a:ea typeface="Calibri"/>
                <a:cs typeface="Calibri"/>
                <a:sym typeface="Calibri"/>
              </a:rPr>
              <a:t>Forward Direction: Democracy -&gt; Women's Rights</a:t>
            </a:r>
            <a:endParaRPr b="1"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lang="en-US" sz="2592">
                <a:solidFill>
                  <a:schemeClr val="dk1"/>
                </a:solidFill>
                <a:latin typeface="Calibri"/>
                <a:ea typeface="Calibri"/>
                <a:cs typeface="Calibri"/>
                <a:sym typeface="Calibri"/>
              </a:rPr>
              <a:t>Workplace, Pay, and Entrepreneurship show the strongest and most consistent effects. Pension is the least responsive off all WBL categories. All coefficients point in the same direction: more democracy and women's representation precede stronger legal rights.</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600"/>
              </a:spcAft>
              <a:buClr>
                <a:srgbClr val="000000"/>
              </a:buClr>
              <a:buSzPts val="2592"/>
              <a:buFont typeface="Arial"/>
              <a:buNone/>
            </a:pPr>
            <a:r>
              <a:t/>
            </a:r>
            <a:endParaRPr sz="2592">
              <a:solidFill>
                <a:schemeClr val="dk1"/>
              </a:solidFill>
              <a:latin typeface="Calibri"/>
              <a:ea typeface="Calibri"/>
              <a:cs typeface="Calibri"/>
              <a:sym typeface="Calibri"/>
            </a:endParaRPr>
          </a:p>
        </p:txBody>
      </p:sp>
      <p:sp>
        <p:nvSpPr>
          <p:cNvPr id="12" name="Google Shape;12;p1"/>
          <p:cNvSpPr txBox="1"/>
          <p:nvPr/>
        </p:nvSpPr>
        <p:spPr>
          <a:xfrm>
            <a:off x="4784602" y="2729411"/>
            <a:ext cx="23269200" cy="591000"/>
          </a:xfrm>
          <a:prstGeom prst="rect">
            <a:avLst/>
          </a:prstGeom>
          <a:noFill/>
          <a:ln>
            <a:noFill/>
          </a:ln>
        </p:spPr>
        <p:txBody>
          <a:bodyPr anchorCtr="0" anchor="ctr" bIns="45700" lIns="91425" spcFirstLastPara="1" rIns="91425" wrap="square" tIns="45700">
            <a:spAutoFit/>
          </a:bodyPr>
          <a:lstStyle/>
          <a:p>
            <a:pPr indent="0" lvl="0" marL="0" rtl="0" algn="ctr">
              <a:spcBef>
                <a:spcPts val="0"/>
              </a:spcBef>
              <a:spcAft>
                <a:spcPts val="0"/>
              </a:spcAft>
              <a:buClr>
                <a:schemeClr val="dk1"/>
              </a:buClr>
              <a:buSzPts val="3840"/>
              <a:buFont typeface="Arial"/>
              <a:buNone/>
            </a:pPr>
            <a:r>
              <a:rPr lang="en-US" sz="3240">
                <a:solidFill>
                  <a:schemeClr val="dk1"/>
                </a:solidFill>
                <a:latin typeface="Calibri"/>
                <a:ea typeface="Calibri"/>
                <a:cs typeface="Calibri"/>
                <a:sym typeface="Calibri"/>
              </a:rPr>
              <a:t>Damian Calabresi, Giacinto Paolo Saggese at University of Maryland, College Park</a:t>
            </a:r>
            <a:endParaRPr sz="3240">
              <a:solidFill>
                <a:schemeClr val="dk1"/>
              </a:solidFill>
              <a:latin typeface="Calibri"/>
              <a:ea typeface="Calibri"/>
              <a:cs typeface="Calibri"/>
              <a:sym typeface="Calibri"/>
            </a:endParaRPr>
          </a:p>
        </p:txBody>
      </p:sp>
      <p:sp>
        <p:nvSpPr>
          <p:cNvPr id="13" name="Google Shape;13;p1"/>
          <p:cNvSpPr txBox="1"/>
          <p:nvPr/>
        </p:nvSpPr>
        <p:spPr>
          <a:xfrm>
            <a:off x="22171800" y="3566119"/>
            <a:ext cx="10195500" cy="16177800"/>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00000"/>
              </a:buClr>
              <a:buSzPts val="2592"/>
              <a:buFont typeface="Arial"/>
              <a:buNone/>
            </a:pPr>
            <a:r>
              <a:rPr b="1" lang="en-US" sz="2592">
                <a:solidFill>
                  <a:schemeClr val="dk1"/>
                </a:solidFill>
                <a:latin typeface="Calibri"/>
                <a:ea typeface="Calibri"/>
                <a:cs typeface="Calibri"/>
                <a:sym typeface="Calibri"/>
              </a:rPr>
              <a:t>Reverse Direction: Women's Rights -&gt; Democracy</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lang="en-US" sz="2592">
                <a:solidFill>
                  <a:schemeClr val="dk1"/>
                </a:solidFill>
                <a:latin typeface="Calibri"/>
                <a:ea typeface="Calibri"/>
                <a:cs typeface="Calibri"/>
                <a:sym typeface="Calibri"/>
              </a:rPr>
              <a:t>The reverse signals are consistently and substantially weaker overall. Workplace shows the most extreme asymmetry: 100% significant forward and only 10% reverse. Pension shows 0% reverse significance. The exception is Mobility, where 50% of reverse regressions are significant but with a negative coefficient (-0.107)</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b="1" lang="en-US" sz="2592">
                <a:solidFill>
                  <a:schemeClr val="dk1"/>
                </a:solidFill>
                <a:latin typeface="Calibri"/>
                <a:ea typeface="Calibri"/>
                <a:cs typeface="Calibri"/>
                <a:sym typeface="Calibri"/>
              </a:rPr>
              <a:t>Key Findings</a:t>
            </a:r>
            <a:endParaRPr b="1" sz="2592">
              <a:solidFill>
                <a:schemeClr val="dk1"/>
              </a:solidFill>
              <a:latin typeface="Calibri"/>
              <a:ea typeface="Calibri"/>
              <a:cs typeface="Calibri"/>
              <a:sym typeface="Calibri"/>
            </a:endParaRPr>
          </a:p>
          <a:p>
            <a:pPr indent="-393192" lvl="0" marL="457200" marR="0" rtl="0" algn="l">
              <a:lnSpc>
                <a:spcPct val="130000"/>
              </a:lnSpc>
              <a:spcBef>
                <a:spcPts val="600"/>
              </a:spcBef>
              <a:spcAft>
                <a:spcPts val="0"/>
              </a:spcAft>
              <a:buClr>
                <a:schemeClr val="dk1"/>
              </a:buClr>
              <a:buSzPts val="2592"/>
              <a:buFont typeface="Calibri"/>
              <a:buChar char="●"/>
            </a:pPr>
            <a:r>
              <a:rPr lang="en-US" sz="2592">
                <a:solidFill>
                  <a:schemeClr val="dk1"/>
                </a:solidFill>
                <a:latin typeface="Calibri"/>
                <a:ea typeface="Calibri"/>
                <a:cs typeface="Calibri"/>
                <a:sym typeface="Calibri"/>
              </a:rPr>
              <a:t>Female Legislators is the strongest single predictor overall, predicting an improvement in marriage law and parenthood rights</a:t>
            </a:r>
            <a:endParaRPr sz="2592">
              <a:solidFill>
                <a:schemeClr val="dk1"/>
              </a:solidFill>
              <a:latin typeface="Calibri"/>
              <a:ea typeface="Calibri"/>
              <a:cs typeface="Calibri"/>
              <a:sym typeface="Calibri"/>
            </a:endParaRPr>
          </a:p>
          <a:p>
            <a:pPr indent="-393192" lvl="0" marL="457200" marR="0" rtl="0" algn="l">
              <a:lnSpc>
                <a:spcPct val="130000"/>
              </a:lnSpc>
              <a:spcBef>
                <a:spcPts val="0"/>
              </a:spcBef>
              <a:spcAft>
                <a:spcPts val="0"/>
              </a:spcAft>
              <a:buClr>
                <a:schemeClr val="dk1"/>
              </a:buClr>
              <a:buSzPts val="2592"/>
              <a:buFont typeface="Calibri"/>
              <a:buChar char="●"/>
            </a:pPr>
            <a:r>
              <a:rPr lang="en-US" sz="2592">
                <a:solidFill>
                  <a:schemeClr val="dk1"/>
                </a:solidFill>
                <a:latin typeface="Calibri"/>
                <a:ea typeface="Calibri"/>
                <a:cs typeface="Calibri"/>
                <a:sym typeface="Calibri"/>
              </a:rPr>
              <a:t>Rule of Law is the strongest institutional predictor for Pay and the overall WBL Index</a:t>
            </a:r>
            <a:endParaRPr sz="2592">
              <a:solidFill>
                <a:schemeClr val="dk1"/>
              </a:solidFill>
              <a:latin typeface="Calibri"/>
              <a:ea typeface="Calibri"/>
              <a:cs typeface="Calibri"/>
              <a:sym typeface="Calibri"/>
            </a:endParaRPr>
          </a:p>
          <a:p>
            <a:pPr indent="-393192" lvl="0" marL="457200" marR="0" rtl="0" algn="l">
              <a:lnSpc>
                <a:spcPct val="130000"/>
              </a:lnSpc>
              <a:spcBef>
                <a:spcPts val="0"/>
              </a:spcBef>
              <a:spcAft>
                <a:spcPts val="0"/>
              </a:spcAft>
              <a:buClr>
                <a:schemeClr val="dk1"/>
              </a:buClr>
              <a:buSzPts val="2592"/>
              <a:buFont typeface="Calibri"/>
              <a:buChar char="●"/>
            </a:pPr>
            <a:r>
              <a:rPr lang="en-US" sz="2592">
                <a:solidFill>
                  <a:schemeClr val="dk1"/>
                </a:solidFill>
                <a:latin typeface="Calibri"/>
                <a:ea typeface="Calibri"/>
                <a:cs typeface="Calibri"/>
                <a:sym typeface="Calibri"/>
              </a:rPr>
              <a:t>Workplace, Pay, and Entrepreneurship are the most consistently predicted outcomes. Pension is the least responsive</a:t>
            </a:r>
            <a:endParaRPr sz="2592">
              <a:solidFill>
                <a:schemeClr val="dk1"/>
              </a:solidFill>
              <a:latin typeface="Calibri"/>
              <a:ea typeface="Calibri"/>
              <a:cs typeface="Calibri"/>
              <a:sym typeface="Calibri"/>
            </a:endParaRPr>
          </a:p>
          <a:p>
            <a:pPr indent="-393192" lvl="0" marL="457200" marR="0" rtl="0" algn="l">
              <a:lnSpc>
                <a:spcPct val="130000"/>
              </a:lnSpc>
              <a:spcBef>
                <a:spcPts val="0"/>
              </a:spcBef>
              <a:spcAft>
                <a:spcPts val="0"/>
              </a:spcAft>
              <a:buClr>
                <a:schemeClr val="dk1"/>
              </a:buClr>
              <a:buSzPts val="2592"/>
              <a:buFont typeface="Calibri"/>
              <a:buChar char="●"/>
            </a:pPr>
            <a:r>
              <a:rPr lang="en-US" sz="2592">
                <a:solidFill>
                  <a:schemeClr val="dk1"/>
                </a:solidFill>
                <a:latin typeface="Calibri"/>
                <a:ea typeface="Calibri"/>
                <a:cs typeface="Calibri"/>
                <a:sym typeface="Calibri"/>
              </a:rPr>
              <a:t>Religion moderates signal strength but not direction. Mobility coefficient is negative in Muslim-majority countries</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rPr b="1" lang="en-US" sz="2592">
                <a:solidFill>
                  <a:schemeClr val="dk1"/>
                </a:solidFill>
                <a:latin typeface="Calibri"/>
                <a:ea typeface="Calibri"/>
                <a:cs typeface="Calibri"/>
                <a:sym typeface="Calibri"/>
              </a:rPr>
              <a:t>Conclusion</a:t>
            </a:r>
            <a:r>
              <a:rPr lang="en-US" sz="2592">
                <a:solidFill>
                  <a:schemeClr val="dk1"/>
                </a:solidFill>
                <a:latin typeface="Calibri"/>
                <a:ea typeface="Calibri"/>
                <a:cs typeface="Calibri"/>
                <a:sym typeface="Calibri"/>
              </a:rPr>
              <a:t>                                                                                                                                                                                                                                                   This study provides temporal, country-level evidence that democratic institutions and civil liberties improvements lead to gains in women's legal rights</a:t>
            </a:r>
            <a:r>
              <a:rPr lang="en-US" sz="2592">
                <a:solidFill>
                  <a:schemeClr val="dk1"/>
                </a:solidFill>
                <a:latin typeface="Calibri"/>
                <a:ea typeface="Calibri"/>
                <a:cs typeface="Calibri"/>
                <a:sym typeface="Calibri"/>
              </a:rPr>
              <a:t>. Policies aimed at strengthening democratic institutions and promoting civil society organizations may be among the most effective levers for advancing legal gender equality globally.</a:t>
            </a:r>
            <a:endParaRPr sz="2592">
              <a:solidFill>
                <a:schemeClr val="dk1"/>
              </a:solidFill>
              <a:latin typeface="Calibri"/>
              <a:ea typeface="Calibri"/>
              <a:cs typeface="Calibri"/>
              <a:sym typeface="Calibri"/>
            </a:endParaRPr>
          </a:p>
          <a:p>
            <a:pPr indent="0" lvl="0" marL="0" marR="0" rtl="0" algn="l">
              <a:lnSpc>
                <a:spcPct val="130000"/>
              </a:lnSpc>
              <a:spcBef>
                <a:spcPts val="600"/>
              </a:spcBef>
              <a:spcAft>
                <a:spcPts val="600"/>
              </a:spcAft>
              <a:buClr>
                <a:srgbClr val="000000"/>
              </a:buClr>
              <a:buSzPts val="2592"/>
              <a:buFont typeface="Arial"/>
              <a:buNone/>
            </a:pPr>
            <a:r>
              <a:t/>
            </a:r>
            <a:endParaRPr sz="2592">
              <a:solidFill>
                <a:schemeClr val="dk1"/>
              </a:solidFill>
              <a:latin typeface="Calibri"/>
              <a:ea typeface="Calibri"/>
              <a:cs typeface="Calibri"/>
              <a:sym typeface="Calibri"/>
            </a:endParaRPr>
          </a:p>
        </p:txBody>
      </p:sp>
      <p:sp>
        <p:nvSpPr>
          <p:cNvPr id="14" name="Google Shape;14;p1"/>
          <p:cNvSpPr txBox="1"/>
          <p:nvPr/>
        </p:nvSpPr>
        <p:spPr>
          <a:xfrm>
            <a:off x="548650" y="3566150"/>
            <a:ext cx="10195500" cy="16177800"/>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00000"/>
              </a:buClr>
              <a:buSzPts val="2592"/>
              <a:buFont typeface="Arial"/>
              <a:buNone/>
            </a:pPr>
            <a:r>
              <a:rPr b="1" lang="en-US" sz="2550">
                <a:solidFill>
                  <a:schemeClr val="dk1"/>
                </a:solidFill>
                <a:latin typeface="Calibri"/>
                <a:ea typeface="Calibri"/>
                <a:cs typeface="Calibri"/>
                <a:sym typeface="Calibri"/>
              </a:rPr>
              <a:t>Motivation</a:t>
            </a:r>
            <a:endParaRPr b="1"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lang="en-US" sz="2550">
                <a:solidFill>
                  <a:schemeClr val="dk1"/>
                </a:solidFill>
                <a:latin typeface="Calibri"/>
                <a:ea typeface="Calibri"/>
                <a:cs typeface="Calibri"/>
                <a:sym typeface="Calibri"/>
              </a:rPr>
              <a:t>Legal rights for women have expanded significantly since 1971, and so has democracy worldwide. At the same time multiple countries went through dissolutions, reunification, and democratization processes. Do these changes caused the improvements in women's legal rights? Does the effort of civil and women rights organizations make an impact?</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lang="en-US" sz="2550">
                <a:solidFill>
                  <a:schemeClr val="dk1"/>
                </a:solidFill>
                <a:latin typeface="Calibri"/>
                <a:ea typeface="Calibri"/>
                <a:cs typeface="Calibri"/>
                <a:sym typeface="Calibri"/>
              </a:rPr>
              <a:t>Behr et al. (2024, World Bank) establishes a strong correlation between democracy and gender equality but explicitly stops short of a causal analysis.</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Clr>
                <a:srgbClr val="000000"/>
              </a:buClr>
              <a:buSzPts val="2592"/>
              <a:buFont typeface="Arial"/>
              <a:buNone/>
            </a:pPr>
            <a:r>
              <a:rPr b="1" lang="en-US" sz="2550">
                <a:solidFill>
                  <a:schemeClr val="dk1"/>
                </a:solidFill>
                <a:latin typeface="Calibri"/>
                <a:ea typeface="Calibri"/>
                <a:cs typeface="Calibri"/>
                <a:sym typeface="Calibri"/>
              </a:rPr>
              <a:t>Research Questions</a:t>
            </a:r>
            <a:endParaRPr b="1" sz="2550">
              <a:solidFill>
                <a:schemeClr val="dk1"/>
              </a:solidFill>
              <a:latin typeface="Calibri"/>
              <a:ea typeface="Calibri"/>
              <a:cs typeface="Calibri"/>
              <a:sym typeface="Calibri"/>
            </a:endParaRPr>
          </a:p>
          <a:p>
            <a:pPr indent="-390525" lvl="0" marL="457200" marR="0" rtl="0" algn="l">
              <a:lnSpc>
                <a:spcPct val="130000"/>
              </a:lnSpc>
              <a:spcBef>
                <a:spcPts val="600"/>
              </a:spcBef>
              <a:spcAft>
                <a:spcPts val="0"/>
              </a:spcAft>
              <a:buClr>
                <a:schemeClr val="dk1"/>
              </a:buClr>
              <a:buSzPts val="2550"/>
              <a:buFont typeface="Calibri"/>
              <a:buAutoNum type="arabicPeriod"/>
            </a:pPr>
            <a:r>
              <a:rPr lang="en-US" sz="2550">
                <a:solidFill>
                  <a:schemeClr val="dk1"/>
                </a:solidFill>
                <a:latin typeface="Calibri"/>
                <a:ea typeface="Calibri"/>
                <a:cs typeface="Calibri"/>
                <a:sym typeface="Calibri"/>
              </a:rPr>
              <a:t>Do changes in democracy and civil freedom predict improvements in women's legal rights?</a:t>
            </a:r>
            <a:endParaRPr sz="2550">
              <a:solidFill>
                <a:schemeClr val="dk1"/>
              </a:solidFill>
              <a:latin typeface="Calibri"/>
              <a:ea typeface="Calibri"/>
              <a:cs typeface="Calibri"/>
              <a:sym typeface="Calibri"/>
            </a:endParaRPr>
          </a:p>
          <a:p>
            <a:pPr indent="-390525" lvl="0" marL="457200" marR="0" rtl="0" algn="l">
              <a:lnSpc>
                <a:spcPct val="130000"/>
              </a:lnSpc>
              <a:spcBef>
                <a:spcPts val="600"/>
              </a:spcBef>
              <a:spcAft>
                <a:spcPts val="0"/>
              </a:spcAft>
              <a:buClr>
                <a:schemeClr val="dk1"/>
              </a:buClr>
              <a:buSzPts val="2550"/>
              <a:buFont typeface="Calibri"/>
              <a:buAutoNum type="arabicPeriod"/>
            </a:pPr>
            <a:r>
              <a:rPr lang="en-US" sz="2550">
                <a:solidFill>
                  <a:schemeClr val="dk1"/>
                </a:solidFill>
                <a:latin typeface="Calibri"/>
                <a:ea typeface="Calibri"/>
                <a:cs typeface="Calibri"/>
                <a:sym typeface="Calibri"/>
              </a:rPr>
              <a:t>Is the reverse also true? Do legal reforms for women precede increase in democratic levels?</a:t>
            </a:r>
            <a:endParaRPr sz="2550">
              <a:solidFill>
                <a:schemeClr val="dk1"/>
              </a:solidFill>
              <a:latin typeface="Calibri"/>
              <a:ea typeface="Calibri"/>
              <a:cs typeface="Calibri"/>
              <a:sym typeface="Calibri"/>
            </a:endParaRPr>
          </a:p>
          <a:p>
            <a:pPr indent="-390525" lvl="0" marL="457200" marR="0" rtl="0" algn="l">
              <a:lnSpc>
                <a:spcPct val="130000"/>
              </a:lnSpc>
              <a:spcBef>
                <a:spcPts val="600"/>
              </a:spcBef>
              <a:spcAft>
                <a:spcPts val="0"/>
              </a:spcAft>
              <a:buClr>
                <a:schemeClr val="dk1"/>
              </a:buClr>
              <a:buSzPts val="2550"/>
              <a:buFont typeface="Calibri"/>
              <a:buAutoNum type="arabicPeriod"/>
            </a:pPr>
            <a:r>
              <a:rPr lang="en-US" sz="2550">
                <a:solidFill>
                  <a:schemeClr val="dk1"/>
                </a:solidFill>
                <a:latin typeface="Calibri"/>
                <a:ea typeface="Calibri"/>
                <a:cs typeface="Calibri"/>
                <a:sym typeface="Calibri"/>
              </a:rPr>
              <a:t>Are civil liberties and civil organizations as important as democracy?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rPr b="1" lang="en-US" sz="2550">
                <a:solidFill>
                  <a:schemeClr val="dk1"/>
                </a:solidFill>
                <a:latin typeface="Calibri"/>
                <a:ea typeface="Calibri"/>
                <a:cs typeface="Calibri"/>
                <a:sym typeface="Calibri"/>
              </a:rPr>
              <a:t>Data</a:t>
            </a:r>
            <a:endParaRPr b="1"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t/>
            </a:r>
            <a:endParaRPr sz="2550">
              <a:solidFill>
                <a:schemeClr val="dk1"/>
              </a:solidFill>
              <a:latin typeface="Calibri"/>
              <a:ea typeface="Calibri"/>
              <a:cs typeface="Calibri"/>
              <a:sym typeface="Calibri"/>
            </a:endParaRPr>
          </a:p>
          <a:p>
            <a:pPr indent="0" lvl="0" marL="0" marR="0" rtl="0" algn="l">
              <a:lnSpc>
                <a:spcPct val="130000"/>
              </a:lnSpc>
              <a:spcBef>
                <a:spcPts val="600"/>
              </a:spcBef>
              <a:spcAft>
                <a:spcPts val="0"/>
              </a:spcAft>
              <a:buNone/>
            </a:pPr>
            <a:r>
              <a:rPr b="1" lang="en-US" sz="2550">
                <a:solidFill>
                  <a:schemeClr val="dk1"/>
                </a:solidFill>
                <a:latin typeface="Calibri"/>
                <a:ea typeface="Calibri"/>
                <a:cs typeface="Calibri"/>
                <a:sym typeface="Calibri"/>
              </a:rPr>
              <a:t>Panel</a:t>
            </a:r>
            <a:endParaRPr b="1" sz="2550">
              <a:solidFill>
                <a:schemeClr val="dk1"/>
              </a:solidFill>
              <a:latin typeface="Calibri"/>
              <a:ea typeface="Calibri"/>
              <a:cs typeface="Calibri"/>
              <a:sym typeface="Calibri"/>
            </a:endParaRPr>
          </a:p>
          <a:p>
            <a:pPr indent="-390525" lvl="0" marL="457200" marR="0" rtl="0" algn="l">
              <a:lnSpc>
                <a:spcPct val="130000"/>
              </a:lnSpc>
              <a:spcBef>
                <a:spcPts val="600"/>
              </a:spcBef>
              <a:spcAft>
                <a:spcPts val="0"/>
              </a:spcAft>
              <a:buClr>
                <a:schemeClr val="dk1"/>
              </a:buClr>
              <a:buSzPts val="2550"/>
              <a:buFont typeface="Calibri"/>
              <a:buChar char="●"/>
            </a:pPr>
            <a:r>
              <a:rPr lang="en-US" sz="2550">
                <a:solidFill>
                  <a:schemeClr val="dk1"/>
                </a:solidFill>
                <a:latin typeface="Calibri"/>
                <a:ea typeface="Calibri"/>
                <a:cs typeface="Calibri"/>
                <a:sym typeface="Calibri"/>
              </a:rPr>
              <a:t>174 countries</a:t>
            </a:r>
            <a:endParaRPr sz="2550">
              <a:solidFill>
                <a:schemeClr val="dk1"/>
              </a:solidFill>
              <a:latin typeface="Calibri"/>
              <a:ea typeface="Calibri"/>
              <a:cs typeface="Calibri"/>
              <a:sym typeface="Calibri"/>
            </a:endParaRPr>
          </a:p>
          <a:p>
            <a:pPr indent="-390525" lvl="0" marL="457200" marR="0" rtl="0" algn="l">
              <a:lnSpc>
                <a:spcPct val="130000"/>
              </a:lnSpc>
              <a:spcBef>
                <a:spcPts val="600"/>
              </a:spcBef>
              <a:spcAft>
                <a:spcPts val="0"/>
              </a:spcAft>
              <a:buClr>
                <a:schemeClr val="dk1"/>
              </a:buClr>
              <a:buSzPts val="2550"/>
              <a:buFont typeface="Calibri"/>
              <a:buChar char="●"/>
            </a:pPr>
            <a:r>
              <a:rPr lang="en-US" sz="2550">
                <a:solidFill>
                  <a:schemeClr val="dk1"/>
                </a:solidFill>
                <a:latin typeface="Calibri"/>
                <a:ea typeface="Calibri"/>
                <a:cs typeface="Calibri"/>
                <a:sym typeface="Calibri"/>
              </a:rPr>
              <a:t>48 years (1971–2018)</a:t>
            </a:r>
            <a:endParaRPr sz="2550">
              <a:solidFill>
                <a:schemeClr val="dk1"/>
              </a:solidFill>
              <a:latin typeface="Calibri"/>
              <a:ea typeface="Calibri"/>
              <a:cs typeface="Calibri"/>
              <a:sym typeface="Calibri"/>
            </a:endParaRPr>
          </a:p>
          <a:p>
            <a:pPr indent="-390525" lvl="0" marL="457200" marR="0" rtl="0" algn="l">
              <a:lnSpc>
                <a:spcPct val="130000"/>
              </a:lnSpc>
              <a:spcBef>
                <a:spcPts val="600"/>
              </a:spcBef>
              <a:spcAft>
                <a:spcPts val="600"/>
              </a:spcAft>
              <a:buClr>
                <a:schemeClr val="dk1"/>
              </a:buClr>
              <a:buSzPts val="2550"/>
              <a:buFont typeface="Calibri"/>
              <a:buChar char="●"/>
            </a:pPr>
            <a:r>
              <a:rPr lang="en-US" sz="2550">
                <a:solidFill>
                  <a:schemeClr val="dk1"/>
                </a:solidFill>
                <a:latin typeface="Calibri"/>
                <a:ea typeface="Calibri"/>
                <a:cs typeface="Calibri"/>
                <a:sym typeface="Calibri"/>
              </a:rPr>
              <a:t>8,561 country-year observations </a:t>
            </a:r>
            <a:endParaRPr sz="2550">
              <a:solidFill>
                <a:schemeClr val="dk1"/>
              </a:solidFill>
              <a:latin typeface="Calibri"/>
              <a:ea typeface="Calibri"/>
              <a:cs typeface="Calibri"/>
              <a:sym typeface="Calibri"/>
            </a:endParaRPr>
          </a:p>
        </p:txBody>
      </p:sp>
      <p:pic>
        <p:nvPicPr>
          <p:cNvPr id="15" name="Google Shape;15;p1" title="design element idk what else to call this.png"/>
          <p:cNvPicPr preferRelativeResize="0"/>
          <p:nvPr/>
        </p:nvPicPr>
        <p:blipFill rotWithShape="1">
          <a:blip r:embed="rId3">
            <a:alphaModFix/>
          </a:blip>
          <a:srcRect b="0" l="0" r="0" t="0"/>
          <a:stretch/>
        </p:blipFill>
        <p:spPr>
          <a:xfrm>
            <a:off x="0" y="21396319"/>
            <a:ext cx="5100859" cy="1896882"/>
          </a:xfrm>
          <a:prstGeom prst="rect">
            <a:avLst/>
          </a:prstGeom>
          <a:noFill/>
          <a:ln>
            <a:noFill/>
          </a:ln>
        </p:spPr>
      </p:pic>
      <p:pic>
        <p:nvPicPr>
          <p:cNvPr id="16" name="Google Shape;16;p1" title="design element idk what else to call this.png"/>
          <p:cNvPicPr preferRelativeResize="0"/>
          <p:nvPr/>
        </p:nvPicPr>
        <p:blipFill rotWithShape="1">
          <a:blip r:embed="rId3">
            <a:alphaModFix/>
          </a:blip>
          <a:srcRect b="0" l="0" r="0" t="0"/>
          <a:stretch/>
        </p:blipFill>
        <p:spPr>
          <a:xfrm>
            <a:off x="5100850" y="21396319"/>
            <a:ext cx="5100859" cy="1896882"/>
          </a:xfrm>
          <a:prstGeom prst="rect">
            <a:avLst/>
          </a:prstGeom>
          <a:noFill/>
          <a:ln>
            <a:noFill/>
          </a:ln>
        </p:spPr>
      </p:pic>
      <p:pic>
        <p:nvPicPr>
          <p:cNvPr id="17" name="Google Shape;17;p1" title="design element idk what else to call this.png"/>
          <p:cNvPicPr preferRelativeResize="0"/>
          <p:nvPr/>
        </p:nvPicPr>
        <p:blipFill rotWithShape="1">
          <a:blip r:embed="rId3">
            <a:alphaModFix/>
          </a:blip>
          <a:srcRect b="0" l="0" r="0" t="0"/>
          <a:stretch/>
        </p:blipFill>
        <p:spPr>
          <a:xfrm>
            <a:off x="10201700" y="21396319"/>
            <a:ext cx="5100859" cy="1896882"/>
          </a:xfrm>
          <a:prstGeom prst="rect">
            <a:avLst/>
          </a:prstGeom>
          <a:noFill/>
          <a:ln>
            <a:noFill/>
          </a:ln>
        </p:spPr>
      </p:pic>
      <p:pic>
        <p:nvPicPr>
          <p:cNvPr id="18" name="Google Shape;18;p1" title="design element idk what else to call this.png"/>
          <p:cNvPicPr preferRelativeResize="0"/>
          <p:nvPr/>
        </p:nvPicPr>
        <p:blipFill rotWithShape="1">
          <a:blip r:embed="rId3">
            <a:alphaModFix/>
          </a:blip>
          <a:srcRect b="0" l="0" r="0" t="0"/>
          <a:stretch/>
        </p:blipFill>
        <p:spPr>
          <a:xfrm>
            <a:off x="15302550" y="21396319"/>
            <a:ext cx="5100859" cy="1896882"/>
          </a:xfrm>
          <a:prstGeom prst="rect">
            <a:avLst/>
          </a:prstGeom>
          <a:noFill/>
          <a:ln>
            <a:noFill/>
          </a:ln>
        </p:spPr>
      </p:pic>
      <p:pic>
        <p:nvPicPr>
          <p:cNvPr id="19" name="Google Shape;19;p1" title="design element idk what else to call this.png"/>
          <p:cNvPicPr preferRelativeResize="0"/>
          <p:nvPr/>
        </p:nvPicPr>
        <p:blipFill rotWithShape="1">
          <a:blip r:embed="rId3">
            <a:alphaModFix/>
          </a:blip>
          <a:srcRect b="0" l="0" r="0" t="0"/>
          <a:stretch/>
        </p:blipFill>
        <p:spPr>
          <a:xfrm>
            <a:off x="20403400" y="21396319"/>
            <a:ext cx="5100859" cy="1896882"/>
          </a:xfrm>
          <a:prstGeom prst="rect">
            <a:avLst/>
          </a:prstGeom>
          <a:noFill/>
          <a:ln>
            <a:noFill/>
          </a:ln>
        </p:spPr>
      </p:pic>
      <p:pic>
        <p:nvPicPr>
          <p:cNvPr id="20" name="Google Shape;20;p1" title="design element idk what else to call this.png"/>
          <p:cNvPicPr preferRelativeResize="0"/>
          <p:nvPr/>
        </p:nvPicPr>
        <p:blipFill rotWithShape="1">
          <a:blip r:embed="rId3">
            <a:alphaModFix/>
          </a:blip>
          <a:srcRect b="0" l="0" r="0" t="0"/>
          <a:stretch/>
        </p:blipFill>
        <p:spPr>
          <a:xfrm>
            <a:off x="25504250" y="21396319"/>
            <a:ext cx="5100859" cy="1896882"/>
          </a:xfrm>
          <a:prstGeom prst="rect">
            <a:avLst/>
          </a:prstGeom>
          <a:noFill/>
          <a:ln>
            <a:noFill/>
          </a:ln>
        </p:spPr>
      </p:pic>
      <p:pic>
        <p:nvPicPr>
          <p:cNvPr id="21" name="Google Shape;21;p1" title="design element idk what else to call this.png"/>
          <p:cNvPicPr preferRelativeResize="0"/>
          <p:nvPr/>
        </p:nvPicPr>
        <p:blipFill rotWithShape="1">
          <a:blip r:embed="rId3">
            <a:alphaModFix/>
          </a:blip>
          <a:srcRect b="0" l="0" r="54648" t="0"/>
          <a:stretch/>
        </p:blipFill>
        <p:spPr>
          <a:xfrm>
            <a:off x="30605100" y="21396325"/>
            <a:ext cx="2313302" cy="1896875"/>
          </a:xfrm>
          <a:prstGeom prst="rect">
            <a:avLst/>
          </a:prstGeom>
          <a:noFill/>
          <a:ln>
            <a:noFill/>
          </a:ln>
        </p:spPr>
      </p:pic>
      <p:sp>
        <p:nvSpPr>
          <p:cNvPr id="22" name="Google Shape;22;p1"/>
          <p:cNvSpPr txBox="1"/>
          <p:nvPr/>
        </p:nvSpPr>
        <p:spPr>
          <a:xfrm>
            <a:off x="3564731" y="685788"/>
            <a:ext cx="25237500" cy="19395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640"/>
              <a:buFont typeface="Arial"/>
              <a:buNone/>
            </a:pPr>
            <a:r>
              <a:rPr lang="en-US" sz="6000">
                <a:solidFill>
                  <a:schemeClr val="dk1"/>
                </a:solidFill>
                <a:latin typeface="Calibri"/>
                <a:ea typeface="Calibri"/>
                <a:cs typeface="Calibri"/>
                <a:sym typeface="Calibri"/>
              </a:rPr>
              <a:t>A Causal Analysis of the Relationship Between Democracy, Civil Liberties, and Women's Rights Under the Law</a:t>
            </a:r>
            <a:endParaRPr b="0" i="0" sz="6000" u="none" cap="none" strike="noStrike">
              <a:solidFill>
                <a:srgbClr val="000000"/>
              </a:solidFill>
              <a:latin typeface="Calibri"/>
              <a:ea typeface="Calibri"/>
              <a:cs typeface="Calibri"/>
              <a:sym typeface="Calibri"/>
            </a:endParaRPr>
          </a:p>
        </p:txBody>
      </p:sp>
      <p:pic>
        <p:nvPicPr>
          <p:cNvPr id="23" name="Google Shape;23;p1"/>
          <p:cNvPicPr preferRelativeResize="0"/>
          <p:nvPr/>
        </p:nvPicPr>
        <p:blipFill rotWithShape="1">
          <a:blip r:embed="rId4">
            <a:alphaModFix/>
          </a:blip>
          <a:srcRect b="0" l="0" r="0" t="0"/>
          <a:stretch/>
        </p:blipFill>
        <p:spPr>
          <a:xfrm>
            <a:off x="1310351" y="569263"/>
            <a:ext cx="2480150" cy="2474650"/>
          </a:xfrm>
          <a:prstGeom prst="rect">
            <a:avLst/>
          </a:prstGeom>
          <a:noFill/>
          <a:ln>
            <a:noFill/>
          </a:ln>
        </p:spPr>
      </p:pic>
      <p:pic>
        <p:nvPicPr>
          <p:cNvPr id="24" name="Google Shape;24;p1"/>
          <p:cNvPicPr preferRelativeResize="0"/>
          <p:nvPr/>
        </p:nvPicPr>
        <p:blipFill rotWithShape="1">
          <a:blip r:embed="rId4">
            <a:alphaModFix/>
          </a:blip>
          <a:srcRect b="0" l="0" r="0" t="0"/>
          <a:stretch/>
        </p:blipFill>
        <p:spPr>
          <a:xfrm>
            <a:off x="29047901" y="569263"/>
            <a:ext cx="2480150" cy="2474650"/>
          </a:xfrm>
          <a:prstGeom prst="rect">
            <a:avLst/>
          </a:prstGeom>
          <a:noFill/>
          <a:ln>
            <a:noFill/>
          </a:ln>
        </p:spPr>
      </p:pic>
      <p:graphicFrame>
        <p:nvGraphicFramePr>
          <p:cNvPr id="25" name="Google Shape;25;p1"/>
          <p:cNvGraphicFramePr/>
          <p:nvPr/>
        </p:nvGraphicFramePr>
        <p:xfrm>
          <a:off x="902950" y="12517425"/>
          <a:ext cx="3000000" cy="3000000"/>
        </p:xfrm>
        <a:graphic>
          <a:graphicData uri="http://schemas.openxmlformats.org/drawingml/2006/table">
            <a:tbl>
              <a:tblPr>
                <a:noFill/>
                <a:tableStyleId>{D72AEB8B-963A-4C37-8358-C0DF22DD9815}</a:tableStyleId>
              </a:tblPr>
              <a:tblGrid>
                <a:gridCol w="3162300"/>
                <a:gridCol w="3162300"/>
                <a:gridCol w="3162300"/>
              </a:tblGrid>
              <a:tr h="381000">
                <a:tc>
                  <a:txBody>
                    <a:bodyPr/>
                    <a:lstStyle/>
                    <a:p>
                      <a:pPr indent="0" lvl="0" marL="0" rtl="0" algn="l">
                        <a:spcBef>
                          <a:spcPts val="0"/>
                        </a:spcBef>
                        <a:spcAft>
                          <a:spcPts val="0"/>
                        </a:spcAft>
                        <a:buNone/>
                      </a:pPr>
                      <a:r>
                        <a:rPr lang="en-US" sz="2400">
                          <a:solidFill>
                            <a:schemeClr val="lt1"/>
                          </a:solidFill>
                        </a:rPr>
                        <a:t>Dataset</a:t>
                      </a:r>
                      <a:endParaRPr sz="2400">
                        <a:solidFill>
                          <a:schemeClr val="lt1"/>
                        </a:solidFill>
                      </a:endParaRPr>
                    </a:p>
                  </a:txBody>
                  <a:tcPr marT="91425" marB="91425" marR="91425" marL="91425">
                    <a:solidFill>
                      <a:srgbClr val="ED2333"/>
                    </a:solidFill>
                  </a:tcPr>
                </a:tc>
                <a:tc>
                  <a:txBody>
                    <a:bodyPr/>
                    <a:lstStyle/>
                    <a:p>
                      <a:pPr indent="0" lvl="0" marL="0" rtl="0" algn="l">
                        <a:spcBef>
                          <a:spcPts val="0"/>
                        </a:spcBef>
                        <a:spcAft>
                          <a:spcPts val="0"/>
                        </a:spcAft>
                        <a:buNone/>
                      </a:pPr>
                      <a:r>
                        <a:rPr lang="en-US" sz="2400">
                          <a:solidFill>
                            <a:schemeClr val="lt1"/>
                          </a:solidFill>
                        </a:rPr>
                        <a:t>Coverage</a:t>
                      </a:r>
                      <a:endParaRPr sz="2400">
                        <a:solidFill>
                          <a:schemeClr val="lt1"/>
                        </a:solidFill>
                      </a:endParaRPr>
                    </a:p>
                  </a:txBody>
                  <a:tcPr marT="91425" marB="91425" marR="91425" marL="91425">
                    <a:solidFill>
                      <a:srgbClr val="ED2333"/>
                    </a:solidFill>
                  </a:tcPr>
                </a:tc>
                <a:tc>
                  <a:txBody>
                    <a:bodyPr/>
                    <a:lstStyle/>
                    <a:p>
                      <a:pPr indent="0" lvl="0" marL="0" rtl="0" algn="l">
                        <a:spcBef>
                          <a:spcPts val="0"/>
                        </a:spcBef>
                        <a:spcAft>
                          <a:spcPts val="0"/>
                        </a:spcAft>
                        <a:buNone/>
                      </a:pPr>
                      <a:r>
                        <a:rPr lang="en-US" sz="2400">
                          <a:solidFill>
                            <a:schemeClr val="lt1"/>
                          </a:solidFill>
                        </a:rPr>
                        <a:t>Role</a:t>
                      </a:r>
                      <a:endParaRPr sz="2400">
                        <a:solidFill>
                          <a:schemeClr val="lt1"/>
                        </a:solidFill>
                      </a:endParaRPr>
                    </a:p>
                  </a:txBody>
                  <a:tcPr marT="91425" marB="91425" marR="91425" marL="91425">
                    <a:solidFill>
                      <a:srgbClr val="ED2333"/>
                    </a:solidFill>
                  </a:tcPr>
                </a:tc>
              </a:tr>
              <a:tr h="381000">
                <a:tc>
                  <a:txBody>
                    <a:bodyPr/>
                    <a:lstStyle/>
                    <a:p>
                      <a:pPr indent="0" lvl="0" marL="0" rtl="0" algn="l">
                        <a:spcBef>
                          <a:spcPts val="0"/>
                        </a:spcBef>
                        <a:spcAft>
                          <a:spcPts val="0"/>
                        </a:spcAft>
                        <a:buNone/>
                      </a:pPr>
                      <a:r>
                        <a:rPr lang="en-US" sz="2400"/>
                        <a:t>Polity5</a:t>
                      </a:r>
                      <a:endParaRPr sz="2400"/>
                    </a:p>
                  </a:txBody>
                  <a:tcPr marT="91425" marB="91425" marR="91425" marL="91425"/>
                </a:tc>
                <a:tc>
                  <a:txBody>
                    <a:bodyPr/>
                    <a:lstStyle/>
                    <a:p>
                      <a:pPr indent="0" lvl="0" marL="0" rtl="0" algn="l">
                        <a:spcBef>
                          <a:spcPts val="0"/>
                        </a:spcBef>
                        <a:spcAft>
                          <a:spcPts val="0"/>
                        </a:spcAft>
                        <a:buNone/>
                      </a:pPr>
                      <a:r>
                        <a:rPr lang="en-US" sz="2400"/>
                        <a:t>195 polities, 1776–2018</a:t>
                      </a:r>
                      <a:endParaRPr sz="2400"/>
                    </a:p>
                  </a:txBody>
                  <a:tcPr marT="91425" marB="91425" marR="91425" marL="91425"/>
                </a:tc>
                <a:tc>
                  <a:txBody>
                    <a:bodyPr/>
                    <a:lstStyle/>
                    <a:p>
                      <a:pPr indent="0" lvl="0" marL="0" rtl="0" algn="l">
                        <a:spcBef>
                          <a:spcPts val="0"/>
                        </a:spcBef>
                        <a:spcAft>
                          <a:spcPts val="0"/>
                        </a:spcAft>
                        <a:buNone/>
                      </a:pPr>
                      <a:r>
                        <a:rPr lang="en-US" sz="2400"/>
                        <a:t>Democracy scores</a:t>
                      </a:r>
                      <a:endParaRPr sz="2400"/>
                    </a:p>
                  </a:txBody>
                  <a:tcPr marT="91425" marB="91425" marR="91425" marL="91425"/>
                </a:tc>
              </a:tr>
              <a:tr h="381000">
                <a:tc>
                  <a:txBody>
                    <a:bodyPr/>
                    <a:lstStyle/>
                    <a:p>
                      <a:pPr indent="0" lvl="0" marL="0" rtl="0" algn="l">
                        <a:spcBef>
                          <a:spcPts val="0"/>
                        </a:spcBef>
                        <a:spcAft>
                          <a:spcPts val="0"/>
                        </a:spcAft>
                        <a:buNone/>
                      </a:pPr>
                      <a:r>
                        <a:rPr lang="en-US" sz="2400"/>
                        <a:t>V-Dem v16</a:t>
                      </a:r>
                      <a:endParaRPr sz="2400"/>
                    </a:p>
                  </a:txBody>
                  <a:tcPr marT="91425" marB="91425" marR="91425" marL="91425"/>
                </a:tc>
                <a:tc>
                  <a:txBody>
                    <a:bodyPr/>
                    <a:lstStyle/>
                    <a:p>
                      <a:pPr indent="0" lvl="0" marL="0" rtl="0" algn="l">
                        <a:spcBef>
                          <a:spcPts val="0"/>
                        </a:spcBef>
                        <a:spcAft>
                          <a:spcPts val="0"/>
                        </a:spcAft>
                        <a:buNone/>
                      </a:pPr>
                      <a:r>
                        <a:rPr lang="en-US" sz="2400"/>
                        <a:t>202 polities, 1789–2025</a:t>
                      </a:r>
                      <a:endParaRPr sz="2400"/>
                    </a:p>
                  </a:txBody>
                  <a:tcPr marT="91425" marB="91425" marR="91425" marL="91425"/>
                </a:tc>
                <a:tc>
                  <a:txBody>
                    <a:bodyPr/>
                    <a:lstStyle/>
                    <a:p>
                      <a:pPr indent="0" lvl="0" marL="0" rtl="0" algn="l">
                        <a:spcBef>
                          <a:spcPts val="0"/>
                        </a:spcBef>
                        <a:spcAft>
                          <a:spcPts val="0"/>
                        </a:spcAft>
                        <a:buNone/>
                      </a:pPr>
                      <a:r>
                        <a:rPr lang="en-US" sz="2400"/>
                        <a:t>Civil liberties indices</a:t>
                      </a:r>
                      <a:endParaRPr sz="2400"/>
                    </a:p>
                  </a:txBody>
                  <a:tcPr marT="91425" marB="91425" marR="91425" marL="91425"/>
                </a:tc>
              </a:tr>
              <a:tr h="381000">
                <a:tc>
                  <a:txBody>
                    <a:bodyPr/>
                    <a:lstStyle/>
                    <a:p>
                      <a:pPr indent="0" lvl="0" marL="0" rtl="0" algn="l">
                        <a:spcBef>
                          <a:spcPts val="0"/>
                        </a:spcBef>
                        <a:spcAft>
                          <a:spcPts val="0"/>
                        </a:spcAft>
                        <a:buNone/>
                      </a:pPr>
                      <a:r>
                        <a:rPr lang="en-US" sz="2400"/>
                        <a:t>World Bank WBL</a:t>
                      </a:r>
                      <a:endParaRPr sz="2400"/>
                    </a:p>
                  </a:txBody>
                  <a:tcPr marT="91425" marB="91425" marR="91425" marL="91425"/>
                </a:tc>
                <a:tc>
                  <a:txBody>
                    <a:bodyPr/>
                    <a:lstStyle/>
                    <a:p>
                      <a:pPr indent="0" lvl="0" marL="0" rtl="0" algn="l">
                        <a:spcBef>
                          <a:spcPts val="0"/>
                        </a:spcBef>
                        <a:spcAft>
                          <a:spcPts val="0"/>
                        </a:spcAft>
                        <a:buNone/>
                      </a:pPr>
                      <a:r>
                        <a:rPr lang="en-US" sz="2400"/>
                        <a:t>190 economies, 1971–2024</a:t>
                      </a:r>
                      <a:endParaRPr sz="2400"/>
                    </a:p>
                  </a:txBody>
                  <a:tcPr marT="91425" marB="91425" marR="91425" marL="91425"/>
                </a:tc>
                <a:tc>
                  <a:txBody>
                    <a:bodyPr/>
                    <a:lstStyle/>
                    <a:p>
                      <a:pPr indent="0" lvl="0" marL="0" rtl="0" algn="l">
                        <a:spcBef>
                          <a:spcPts val="0"/>
                        </a:spcBef>
                        <a:spcAft>
                          <a:spcPts val="0"/>
                        </a:spcAft>
                        <a:buNone/>
                      </a:pPr>
                      <a:r>
                        <a:rPr lang="en-US" sz="2400"/>
                        <a:t>Women's legal rights (outcome)</a:t>
                      </a:r>
                      <a:endParaRPr sz="2400"/>
                    </a:p>
                  </a:txBody>
                  <a:tcPr marT="91425" marB="91425" marR="91425" marL="91425"/>
                </a:tc>
              </a:tr>
              <a:tr h="381000">
                <a:tc>
                  <a:txBody>
                    <a:bodyPr/>
                    <a:lstStyle/>
                    <a:p>
                      <a:pPr indent="0" lvl="0" marL="0" rtl="0" algn="l">
                        <a:spcBef>
                          <a:spcPts val="0"/>
                        </a:spcBef>
                        <a:spcAft>
                          <a:spcPts val="0"/>
                        </a:spcAft>
                        <a:buNone/>
                      </a:pPr>
                      <a:r>
                        <a:rPr lang="en-US" sz="2400"/>
                        <a:t>Pew RDI</a:t>
                      </a:r>
                      <a:endParaRPr sz="2400"/>
                    </a:p>
                  </a:txBody>
                  <a:tcPr marT="91425" marB="91425" marR="91425" marL="91425"/>
                </a:tc>
                <a:tc>
                  <a:txBody>
                    <a:bodyPr/>
                    <a:lstStyle/>
                    <a:p>
                      <a:pPr indent="0" lvl="0" marL="0" rtl="0" algn="l">
                        <a:spcBef>
                          <a:spcPts val="0"/>
                        </a:spcBef>
                        <a:spcAft>
                          <a:spcPts val="0"/>
                        </a:spcAft>
                        <a:buNone/>
                      </a:pPr>
                      <a:r>
                        <a:rPr lang="en-US" sz="2400"/>
                        <a:t>230 countries, 2010</a:t>
                      </a:r>
                      <a:endParaRPr sz="2400"/>
                    </a:p>
                  </a:txBody>
                  <a:tcPr marT="91425" marB="91425" marR="91425" marL="91425"/>
                </a:tc>
                <a:tc>
                  <a:txBody>
                    <a:bodyPr/>
                    <a:lstStyle/>
                    <a:p>
                      <a:pPr indent="0" lvl="0" marL="0" rtl="0" algn="l">
                        <a:spcBef>
                          <a:spcPts val="0"/>
                        </a:spcBef>
                        <a:spcAft>
                          <a:spcPts val="0"/>
                        </a:spcAft>
                        <a:buNone/>
                      </a:pPr>
                      <a:r>
                        <a:rPr lang="en-US" sz="2400"/>
                        <a:t>Religious composition (control)</a:t>
                      </a:r>
                      <a:endParaRPr sz="2400"/>
                    </a:p>
                  </a:txBody>
                  <a:tcPr marT="91425" marB="91425" marR="91425" marL="91425"/>
                </a:tc>
              </a:tr>
            </a:tbl>
          </a:graphicData>
        </a:graphic>
      </p:graphicFrame>
      <p:pic>
        <p:nvPicPr>
          <p:cNvPr id="26" name="Google Shape;26;p1" title="fe_heatmap_lag4_rev_coeff.png"/>
          <p:cNvPicPr preferRelativeResize="0"/>
          <p:nvPr/>
        </p:nvPicPr>
        <p:blipFill>
          <a:blip r:embed="rId5">
            <a:alphaModFix/>
          </a:blip>
          <a:stretch>
            <a:fillRect/>
          </a:stretch>
        </p:blipFill>
        <p:spPr>
          <a:xfrm>
            <a:off x="23103524" y="6741575"/>
            <a:ext cx="8560674" cy="4690550"/>
          </a:xfrm>
          <a:prstGeom prst="rect">
            <a:avLst/>
          </a:prstGeom>
          <a:noFill/>
          <a:ln>
            <a:noFill/>
          </a:ln>
        </p:spPr>
      </p:pic>
      <p:pic>
        <p:nvPicPr>
          <p:cNvPr id="27" name="Google Shape;27;p1" title="global_trends_women_rights.png"/>
          <p:cNvPicPr preferRelativeResize="0"/>
          <p:nvPr/>
        </p:nvPicPr>
        <p:blipFill>
          <a:blip r:embed="rId6">
            <a:alphaModFix/>
          </a:blip>
          <a:stretch>
            <a:fillRect/>
          </a:stretch>
        </p:blipFill>
        <p:spPr>
          <a:xfrm>
            <a:off x="11714526" y="8032800"/>
            <a:ext cx="9486899" cy="3108726"/>
          </a:xfrm>
          <a:prstGeom prst="rect">
            <a:avLst/>
          </a:prstGeom>
          <a:noFill/>
          <a:ln>
            <a:noFill/>
          </a:ln>
        </p:spPr>
      </p:pic>
      <p:pic>
        <p:nvPicPr>
          <p:cNvPr id="28" name="Google Shape;28;p1" title="fe_heatmap_lag4_fwd_coeff.png"/>
          <p:cNvPicPr preferRelativeResize="0"/>
          <p:nvPr/>
        </p:nvPicPr>
        <p:blipFill>
          <a:blip r:embed="rId7">
            <a:alphaModFix/>
          </a:blip>
          <a:stretch>
            <a:fillRect/>
          </a:stretch>
        </p:blipFill>
        <p:spPr>
          <a:xfrm>
            <a:off x="11503725" y="14577300"/>
            <a:ext cx="9908489" cy="44405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